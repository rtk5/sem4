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7053250" cy="9309100"/>
  <p:embeddedFontLst>
    <p:embeddedFont>
      <p:font typeface="Arial Black"/>
      <p:regular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952">
          <p15:clr>
            <a:srgbClr val="A4A3A4"/>
          </p15:clr>
        </p15:guide>
        <p15:guide id="2" pos="1572">
          <p15:clr>
            <a:srgbClr val="A4A3A4"/>
          </p15:clr>
        </p15:guide>
      </p15:sldGuideLst>
    </p:ext>
    <p:ext uri="GoogleSlidesCustomDataVersion2">
      <go:slidesCustomData xmlns:go="http://customooxmlschemas.google.com/" r:id="rId20" roundtripDataSignature="AMtx7miDm7twDlZ0T9qXrcg47KI2Echv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952" orient="horz"/>
        <p:guide pos="157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rialBlack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95217" y="0"/>
            <a:ext cx="3056414" cy="467072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725" lIns="93475" spcFirstLastPara="1" rIns="93475" wrap="square" tIns="467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  <a:noFill/>
          <a:ln>
            <a:noFill/>
          </a:ln>
        </p:spPr>
        <p:txBody>
          <a:bodyPr anchorCtr="0" anchor="b" bIns="46725" lIns="93475" spcFirstLastPara="1" rIns="93475" wrap="square" tIns="467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7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9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:notes"/>
          <p:cNvSpPr txBox="1"/>
          <p:nvPr>
            <p:ph idx="1" type="body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anchorCtr="0" anchor="t" bIns="46725" lIns="93475" spcFirstLastPara="1" rIns="93475" wrap="square" tIns="46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:notes"/>
          <p:cNvSpPr/>
          <p:nvPr>
            <p:ph idx="2" type="sldImg"/>
          </p:nvPr>
        </p:nvSpPr>
        <p:spPr>
          <a:xfrm>
            <a:off x="733425" y="1163638"/>
            <a:ext cx="5586413" cy="314166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FF000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Our Brand Identity » PES University" id="19" name="Google Shape;19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389" y="39625"/>
            <a:ext cx="727279" cy="1346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2"/>
          <p:cNvPicPr preferRelativeResize="0"/>
          <p:nvPr/>
        </p:nvPicPr>
        <p:blipFill rotWithShape="1">
          <a:blip r:embed="rId3">
            <a:alphaModFix/>
          </a:blip>
          <a:srcRect b="15075" l="5367" r="8667" t="0"/>
          <a:stretch/>
        </p:blipFill>
        <p:spPr>
          <a:xfrm>
            <a:off x="9982200" y="39625"/>
            <a:ext cx="2115880" cy="150838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" name="Google Shape;21;p22"/>
          <p:cNvGrpSpPr/>
          <p:nvPr/>
        </p:nvGrpSpPr>
        <p:grpSpPr>
          <a:xfrm>
            <a:off x="2657255" y="4295872"/>
            <a:ext cx="6877490" cy="1949497"/>
            <a:chOff x="3104710" y="1782531"/>
            <a:chExt cx="6877490" cy="1949497"/>
          </a:xfrm>
        </p:grpSpPr>
        <p:pic>
          <p:nvPicPr>
            <p:cNvPr id="22" name="Google Shape;22;p22"/>
            <p:cNvPicPr preferRelativeResize="0"/>
            <p:nvPr/>
          </p:nvPicPr>
          <p:blipFill rotWithShape="1">
            <a:blip r:embed="rId4">
              <a:alphaModFix amt="16000"/>
            </a:blip>
            <a:srcRect b="0" l="0" r="0" t="0"/>
            <a:stretch/>
          </p:blipFill>
          <p:spPr>
            <a:xfrm>
              <a:off x="3104710" y="1835696"/>
              <a:ext cx="6877490" cy="18963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2"/>
            <p:cNvPicPr preferRelativeResize="0"/>
            <p:nvPr/>
          </p:nvPicPr>
          <p:blipFill rotWithShape="1">
            <a:blip r:embed="rId5">
              <a:alphaModFix amt="16000"/>
            </a:blip>
            <a:srcRect b="0" l="0" r="0" t="0"/>
            <a:stretch/>
          </p:blipFill>
          <p:spPr>
            <a:xfrm>
              <a:off x="4757078" y="1782531"/>
              <a:ext cx="4889416" cy="64623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7" name="Google Shape;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1" type="ftr"/>
          </p:nvPr>
        </p:nvSpPr>
        <p:spPr>
          <a:xfrm>
            <a:off x="4038600" y="650521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1F386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4994910" y="2410219"/>
            <a:ext cx="5749290" cy="1430233"/>
          </a:xfrm>
          <a:custGeom>
            <a:rect b="b" l="l" r="r" t="t"/>
            <a:pathLst>
              <a:path extrusionOk="0" h="804396" w="2637364">
                <a:moveTo>
                  <a:pt x="0" y="0"/>
                </a:moveTo>
                <a:lnTo>
                  <a:pt x="2637364" y="0"/>
                </a:lnTo>
                <a:lnTo>
                  <a:pt x="2637364" y="804396"/>
                </a:lnTo>
                <a:lnTo>
                  <a:pt x="0" y="804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1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84"/>
              <a:buFont typeface="Arial Black"/>
              <a:buNone/>
              <a:defRPr b="0" i="0" sz="2784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1" type="ftr"/>
          </p:nvPr>
        </p:nvSpPr>
        <p:spPr>
          <a:xfrm>
            <a:off x="3606546" y="6624426"/>
            <a:ext cx="4978908" cy="249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002060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5"/>
          <p:cNvSpPr txBox="1"/>
          <p:nvPr/>
        </p:nvSpPr>
        <p:spPr>
          <a:xfrm>
            <a:off x="3028950" y="6687666"/>
            <a:ext cx="3086100" cy="170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Our Brand Identity » PES University" id="43" name="Google Shape;4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366202" y="143964"/>
            <a:ext cx="727279" cy="1346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25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3202218" y="1873521"/>
            <a:ext cx="5787563" cy="24189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8" name="Google Shape;4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27"/>
          <p:cNvSpPr/>
          <p:nvPr/>
        </p:nvSpPr>
        <p:spPr>
          <a:xfrm>
            <a:off x="2908304" y="1889525"/>
            <a:ext cx="7389030" cy="2197395"/>
          </a:xfrm>
          <a:custGeom>
            <a:rect b="b" l="l" r="r" t="t"/>
            <a:pathLst>
              <a:path extrusionOk="0" h="804396" w="2637364">
                <a:moveTo>
                  <a:pt x="0" y="0"/>
                </a:moveTo>
                <a:lnTo>
                  <a:pt x="2637364" y="0"/>
                </a:lnTo>
                <a:lnTo>
                  <a:pt x="2637364" y="804396"/>
                </a:lnTo>
                <a:lnTo>
                  <a:pt x="0" y="80439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 amt="13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3" name="Google Shape;73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19.png"/><Relationship Id="rId5" Type="http://schemas.openxmlformats.org/officeDocument/2006/relationships/image" Target="../media/image16.png"/><Relationship Id="rId6" Type="http://schemas.openxmlformats.org/officeDocument/2006/relationships/image" Target="../media/image13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2745"/>
          </a:schemeClr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ur Brand Identity » PES University"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691" y="1657069"/>
            <a:ext cx="1901459" cy="3520722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 txBox="1"/>
          <p:nvPr>
            <p:ph idx="11" type="ftr"/>
          </p:nvPr>
        </p:nvSpPr>
        <p:spPr>
          <a:xfrm>
            <a:off x="3606546" y="6574240"/>
            <a:ext cx="4978908" cy="2493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PESU Proprietary - i Powered e 2025</a:t>
            </a:r>
            <a:endParaRPr b="0" i="0" sz="1200" u="none" cap="none" strike="noStrike">
              <a:solidFill>
                <a:srgbClr val="1F386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Unicorn outline Vector Images | Depositphotos" id="102" name="Google Shape;102;p2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175207" y="358222"/>
            <a:ext cx="78417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Students in Tier-2 and Tier-3 cities lack exposure to diverse career opportunities beyond traditional fields like engineering and medicine</a:t>
            </a:r>
            <a:endParaRPr sz="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45720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CSE_H_485_479_489_472_909</a:t>
            </a:r>
            <a:endParaRPr sz="4400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2950465" y="4119694"/>
            <a:ext cx="1225675" cy="13271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4446845" y="4119695"/>
            <a:ext cx="1225675" cy="13271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7525322" y="4108265"/>
            <a:ext cx="1225675" cy="13271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2738825" y="5608075"/>
            <a:ext cx="13365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Rithvik Matta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PES2UG23CS485</a:t>
            </a:r>
            <a:endParaRPr sz="1300"/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4">
            <a:alphaModFix/>
          </a:blip>
          <a:srcRect b="15075" l="5367" r="8667" t="0"/>
          <a:stretch/>
        </p:blipFill>
        <p:spPr>
          <a:xfrm>
            <a:off x="9982200" y="39625"/>
            <a:ext cx="2115880" cy="150838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"/>
          <p:cNvSpPr txBox="1"/>
          <p:nvPr/>
        </p:nvSpPr>
        <p:spPr>
          <a:xfrm>
            <a:off x="6016565" y="4123505"/>
            <a:ext cx="1225675" cy="13271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2"/>
          <p:cNvSpPr txBox="1"/>
          <p:nvPr/>
        </p:nvSpPr>
        <p:spPr>
          <a:xfrm>
            <a:off x="9060752" y="4112075"/>
            <a:ext cx="1225675" cy="1327164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4446850" y="5608075"/>
            <a:ext cx="13365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Rishi A Sheth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PES2UG23CS479</a:t>
            </a:r>
            <a:endParaRPr sz="1300"/>
          </a:p>
        </p:txBody>
      </p:sp>
      <p:sp>
        <p:nvSpPr>
          <p:cNvPr id="112" name="Google Shape;112;p2"/>
          <p:cNvSpPr txBox="1"/>
          <p:nvPr/>
        </p:nvSpPr>
        <p:spPr>
          <a:xfrm>
            <a:off x="6037825" y="5611900"/>
            <a:ext cx="13365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Rohan Jogi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PES2UG23CS489</a:t>
            </a:r>
            <a:endParaRPr sz="1300"/>
          </a:p>
        </p:txBody>
      </p:sp>
      <p:sp>
        <p:nvSpPr>
          <p:cNvPr id="113" name="Google Shape;113;p2"/>
          <p:cNvSpPr txBox="1"/>
          <p:nvPr/>
        </p:nvSpPr>
        <p:spPr>
          <a:xfrm>
            <a:off x="7536749" y="5611900"/>
            <a:ext cx="13770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Ashish Pavan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PES2UG23CS472</a:t>
            </a:r>
            <a:endParaRPr sz="1300"/>
          </a:p>
        </p:txBody>
      </p:sp>
      <p:sp>
        <p:nvSpPr>
          <p:cNvPr id="114" name="Google Shape;114;p2"/>
          <p:cNvSpPr txBox="1"/>
          <p:nvPr/>
        </p:nvSpPr>
        <p:spPr>
          <a:xfrm>
            <a:off x="9070602" y="5627125"/>
            <a:ext cx="1377000" cy="5079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Rahul Senthil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PES2UG23CS909</a:t>
            </a:r>
            <a:endParaRPr sz="1300"/>
          </a:p>
        </p:txBody>
      </p:sp>
      <p:pic>
        <p:nvPicPr>
          <p:cNvPr id="115" name="Google Shape;115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60750" y="3853456"/>
            <a:ext cx="1225674" cy="1581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8663" y="3816689"/>
            <a:ext cx="1225676" cy="1618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446850" y="3781259"/>
            <a:ext cx="1225675" cy="1648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016600" y="3863399"/>
            <a:ext cx="1225675" cy="157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67001" y="3919200"/>
            <a:ext cx="1581999" cy="158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idx="4294967295" type="body"/>
          </p:nvPr>
        </p:nvSpPr>
        <p:spPr>
          <a:xfrm>
            <a:off x="436775" y="1262250"/>
            <a:ext cx="11353500" cy="54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 u="sng">
                <a:latin typeface="Arial"/>
                <a:ea typeface="Arial"/>
                <a:cs typeface="Arial"/>
                <a:sym typeface="Arial"/>
              </a:rPr>
              <a:t> Students in Tier-2 and Tier-3 cities lack exposure to diverse career opportunities beyond traditional fields like engineering and medicine.</a:t>
            </a:r>
            <a:endParaRPr b="1" sz="1500" u="sng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Why is this a problem?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Existing platforms like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Unacademy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focus only on academic content and do not provide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personalized career counseling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Many students are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unaware of scholarships, internships, and skill-building programs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available to them.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Traditional career counseling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is expensive, inaccessible, and not tailored to individual interests.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Who is affected?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High school and college students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from Tier-2 and Tier-3 cities who have limited guidance on career choices.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How does this problem occur?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Lack of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mentorship and awareness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about alternative career paths.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Limited access to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career advisors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interactive guidance platforms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How big is the problem globally?</a:t>
            </a:r>
            <a:endParaRPr b="1"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Millions of students face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limited career guidance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, especially in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developing nations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 where digital career counseling is still emerging.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There is a growing demand for </a:t>
            </a:r>
            <a:r>
              <a:rPr b="1" lang="en-US" sz="1500">
                <a:latin typeface="Arial"/>
                <a:ea typeface="Arial"/>
                <a:cs typeface="Arial"/>
                <a:sym typeface="Arial"/>
              </a:rPr>
              <a:t>affordable and accessible career advisory solutions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.</a:t>
            </a:r>
            <a:endParaRPr sz="3200"/>
          </a:p>
        </p:txBody>
      </p:sp>
      <p:sp>
        <p:nvSpPr>
          <p:cNvPr id="125" name="Google Shape;125;p3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3864"/>
                </a:solidFill>
              </a:rPr>
              <a:t>PESU Proprietary - i Powered e 2025</a:t>
            </a:r>
            <a:endParaRPr>
              <a:solidFill>
                <a:srgbClr val="1F3864"/>
              </a:solidFill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998572" y="447261"/>
            <a:ext cx="10465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. Problem Statement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1022082" y="1083816"/>
            <a:ext cx="1041934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2. Existing solutions to the problem - Benchmark</a:t>
            </a:r>
            <a:endParaRPr/>
          </a:p>
        </p:txBody>
      </p:sp>
      <p:sp>
        <p:nvSpPr>
          <p:cNvPr id="133" name="Google Shape;133;p4"/>
          <p:cNvSpPr txBox="1"/>
          <p:nvPr/>
        </p:nvSpPr>
        <p:spPr>
          <a:xfrm>
            <a:off x="622934" y="2124925"/>
            <a:ext cx="11161396" cy="4123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Current career guidance platforms: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Unacademy, Byju’s</a:t>
            </a:r>
            <a:r>
              <a:rPr lang="en-US" sz="1900">
                <a:solidFill>
                  <a:schemeClr val="dk1"/>
                </a:solidFill>
              </a:rPr>
              <a:t> → Focus on academics, not career matchmaking.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LinkedIn, Coursera, EdX</a:t>
            </a:r>
            <a:r>
              <a:rPr lang="en-US" sz="1900">
                <a:solidFill>
                  <a:schemeClr val="dk1"/>
                </a:solidFill>
              </a:rPr>
              <a:t> → Offer skill development but lack </a:t>
            </a:r>
            <a:r>
              <a:rPr b="1" lang="en-US" sz="1900">
                <a:solidFill>
                  <a:schemeClr val="dk1"/>
                </a:solidFill>
              </a:rPr>
              <a:t>career-specific mentorship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Traditional career counseling</a:t>
            </a:r>
            <a:r>
              <a:rPr lang="en-US" sz="1900">
                <a:solidFill>
                  <a:schemeClr val="dk1"/>
                </a:solidFill>
              </a:rPr>
              <a:t> → Expensive and not scalable.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1"/>
                </a:solidFill>
              </a:rPr>
              <a:t>Gaps in existing solutions:</a:t>
            </a:r>
            <a:endParaRPr b="1"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b="1" lang="en-US" sz="1900">
                <a:solidFill>
                  <a:schemeClr val="dk1"/>
                </a:solidFill>
              </a:rPr>
              <a:t>Lack of personalized AI-driven guidance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No </a:t>
            </a:r>
            <a:r>
              <a:rPr b="1" lang="en-US" sz="1900">
                <a:solidFill>
                  <a:schemeClr val="dk1"/>
                </a:solidFill>
              </a:rPr>
              <a:t>interactive features</a:t>
            </a:r>
            <a:r>
              <a:rPr lang="en-US" sz="1900">
                <a:solidFill>
                  <a:schemeClr val="dk1"/>
                </a:solidFill>
              </a:rPr>
              <a:t> like </a:t>
            </a:r>
            <a:r>
              <a:rPr b="1" lang="en-US" sz="1900">
                <a:solidFill>
                  <a:schemeClr val="dk1"/>
                </a:solidFill>
              </a:rPr>
              <a:t>games and career simulations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-3492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US" sz="1900">
                <a:solidFill>
                  <a:schemeClr val="dk1"/>
                </a:solidFill>
              </a:rPr>
              <a:t>No </a:t>
            </a:r>
            <a:r>
              <a:rPr b="1" lang="en-US" sz="1900">
                <a:solidFill>
                  <a:schemeClr val="dk1"/>
                </a:solidFill>
              </a:rPr>
              <a:t>real-time updates</a:t>
            </a:r>
            <a:r>
              <a:rPr lang="en-US" sz="1900">
                <a:solidFill>
                  <a:schemeClr val="dk1"/>
                </a:solidFill>
              </a:rPr>
              <a:t> on </a:t>
            </a:r>
            <a:r>
              <a:rPr b="1" lang="en-US" sz="1900">
                <a:solidFill>
                  <a:schemeClr val="dk1"/>
                </a:solidFill>
              </a:rPr>
              <a:t>scholarships, internships, and career trends</a:t>
            </a:r>
            <a:r>
              <a:rPr lang="en-US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-279400" lvl="0" marL="228600" marR="0" rtl="0" algn="l">
              <a:lnSpc>
                <a:spcPct val="16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Char char="•"/>
            </a:pPr>
            <a:r>
              <a:t/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39" name="Google Shape;139;p5"/>
          <p:cNvSpPr txBox="1"/>
          <p:nvPr/>
        </p:nvSpPr>
        <p:spPr>
          <a:xfrm>
            <a:off x="987792" y="763776"/>
            <a:ext cx="90591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3. Proposed solutions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622934" y="2124925"/>
            <a:ext cx="11161396" cy="2333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-US" sz="2135">
                <a:solidFill>
                  <a:schemeClr val="dk1"/>
                </a:solidFill>
              </a:rPr>
              <a:t>CareerWay - AI-Powered Career Guidance &amp; Discovery Platform</a:t>
            </a:r>
            <a:endParaRPr b="1" sz="2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-US" sz="2135">
                <a:solidFill>
                  <a:schemeClr val="dk1"/>
                </a:solidFill>
              </a:rPr>
              <a:t>Features:</a:t>
            </a:r>
            <a:br>
              <a:rPr b="1" lang="en-US" sz="2135">
                <a:solidFill>
                  <a:schemeClr val="dk1"/>
                </a:solidFill>
              </a:rPr>
            </a:br>
            <a:r>
              <a:rPr lang="en-US" sz="2135">
                <a:solidFill>
                  <a:schemeClr val="dk1"/>
                </a:solidFill>
              </a:rPr>
              <a:t> ✅ AI chatbot </a:t>
            </a:r>
            <a:r>
              <a:rPr b="1" lang="en-US" sz="2135">
                <a:solidFill>
                  <a:schemeClr val="dk1"/>
                </a:solidFill>
              </a:rPr>
              <a:t>talks to users like a mentor</a:t>
            </a:r>
            <a:r>
              <a:rPr lang="en-US" sz="2135">
                <a:solidFill>
                  <a:schemeClr val="dk1"/>
                </a:solidFill>
              </a:rPr>
              <a:t>, understanding interests and aspirations.</a:t>
            </a:r>
            <a:br>
              <a:rPr lang="en-US" sz="2135">
                <a:solidFill>
                  <a:schemeClr val="dk1"/>
                </a:solidFill>
              </a:rPr>
            </a:br>
            <a:r>
              <a:rPr lang="en-US" sz="2135">
                <a:solidFill>
                  <a:schemeClr val="dk1"/>
                </a:solidFill>
              </a:rPr>
              <a:t> ✅ Provides a </a:t>
            </a:r>
            <a:r>
              <a:rPr b="1" lang="en-US" sz="2135">
                <a:solidFill>
                  <a:schemeClr val="dk1"/>
                </a:solidFill>
              </a:rPr>
              <a:t>step-by-step roadmap</a:t>
            </a:r>
            <a:r>
              <a:rPr lang="en-US" sz="2135">
                <a:solidFill>
                  <a:schemeClr val="dk1"/>
                </a:solidFill>
              </a:rPr>
              <a:t> to reach career goals.</a:t>
            </a:r>
            <a:br>
              <a:rPr lang="en-US" sz="2135">
                <a:solidFill>
                  <a:schemeClr val="dk1"/>
                </a:solidFill>
              </a:rPr>
            </a:br>
            <a:r>
              <a:rPr lang="en-US" sz="2135">
                <a:solidFill>
                  <a:schemeClr val="dk1"/>
                </a:solidFill>
              </a:rPr>
              <a:t> ✅ </a:t>
            </a:r>
            <a:r>
              <a:rPr b="1" lang="en-US" sz="2135">
                <a:solidFill>
                  <a:schemeClr val="dk1"/>
                </a:solidFill>
              </a:rPr>
              <a:t>Career cards</a:t>
            </a:r>
            <a:r>
              <a:rPr lang="en-US" sz="2135">
                <a:solidFill>
                  <a:schemeClr val="dk1"/>
                </a:solidFill>
              </a:rPr>
              <a:t> allow users to swipe and explore different professions.</a:t>
            </a:r>
            <a:br>
              <a:rPr lang="en-US" sz="2135">
                <a:solidFill>
                  <a:schemeClr val="dk1"/>
                </a:solidFill>
              </a:rPr>
            </a:br>
            <a:r>
              <a:rPr lang="en-US" sz="2135">
                <a:solidFill>
                  <a:schemeClr val="dk1"/>
                </a:solidFill>
              </a:rPr>
              <a:t> ✅ Recommends </a:t>
            </a:r>
            <a:r>
              <a:rPr b="1" lang="en-US" sz="2135">
                <a:solidFill>
                  <a:schemeClr val="dk1"/>
                </a:solidFill>
              </a:rPr>
              <a:t>degrees, colleges, scholarships, and internships</a:t>
            </a:r>
            <a:r>
              <a:rPr lang="en-US" sz="2135">
                <a:solidFill>
                  <a:schemeClr val="dk1"/>
                </a:solidFill>
              </a:rPr>
              <a:t>.</a:t>
            </a:r>
            <a:br>
              <a:rPr lang="en-US" sz="2135">
                <a:solidFill>
                  <a:schemeClr val="dk1"/>
                </a:solidFill>
              </a:rPr>
            </a:br>
            <a:r>
              <a:rPr lang="en-US" sz="2135">
                <a:solidFill>
                  <a:schemeClr val="dk1"/>
                </a:solidFill>
              </a:rPr>
              <a:t> ✅ Integrates </a:t>
            </a:r>
            <a:r>
              <a:rPr b="1" lang="en-US" sz="2135">
                <a:solidFill>
                  <a:schemeClr val="dk1"/>
                </a:solidFill>
              </a:rPr>
              <a:t>career-related 2D mini-games</a:t>
            </a:r>
            <a:r>
              <a:rPr lang="en-US" sz="2135">
                <a:solidFill>
                  <a:schemeClr val="dk1"/>
                </a:solidFill>
              </a:rPr>
              <a:t> for interactive learning.</a:t>
            </a:r>
            <a:endParaRPr sz="213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en-US" sz="2135">
                <a:solidFill>
                  <a:schemeClr val="dk1"/>
                </a:solidFill>
              </a:rPr>
              <a:t>Example of games:</a:t>
            </a:r>
            <a:endParaRPr b="1" sz="2135">
              <a:solidFill>
                <a:schemeClr val="dk1"/>
              </a:solidFill>
            </a:endParaRPr>
          </a:p>
          <a:p>
            <a:pPr indent="-3641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35"/>
              <a:buChar char="●"/>
            </a:pPr>
            <a:r>
              <a:rPr b="1" lang="en-US" sz="2135">
                <a:solidFill>
                  <a:schemeClr val="dk1"/>
                </a:solidFill>
              </a:rPr>
              <a:t>Cybersecurity</a:t>
            </a:r>
            <a:r>
              <a:rPr lang="en-US" sz="2135">
                <a:solidFill>
                  <a:schemeClr val="dk1"/>
                </a:solidFill>
              </a:rPr>
              <a:t>  → Solve a simulated cyber-attack.</a:t>
            </a:r>
            <a:endParaRPr sz="2135">
              <a:solidFill>
                <a:schemeClr val="dk1"/>
              </a:solidFill>
            </a:endParaRPr>
          </a:p>
          <a:p>
            <a:pPr indent="-3641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5"/>
              <a:buChar char="●"/>
            </a:pPr>
            <a:r>
              <a:rPr b="1" lang="en-US" sz="2135">
                <a:solidFill>
                  <a:schemeClr val="dk1"/>
                </a:solidFill>
              </a:rPr>
              <a:t>Mechanical Engineering</a:t>
            </a:r>
            <a:r>
              <a:rPr lang="en-US" sz="2135">
                <a:solidFill>
                  <a:schemeClr val="dk1"/>
                </a:solidFill>
              </a:rPr>
              <a:t>  → Build a working gear system.</a:t>
            </a:r>
            <a:endParaRPr sz="2135">
              <a:solidFill>
                <a:schemeClr val="dk1"/>
              </a:solidFill>
            </a:endParaRPr>
          </a:p>
          <a:p>
            <a:pPr indent="-3641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35"/>
              <a:buChar char="●"/>
            </a:pPr>
            <a:r>
              <a:rPr b="1" lang="en-US" sz="2135">
                <a:solidFill>
                  <a:schemeClr val="dk1"/>
                </a:solidFill>
              </a:rPr>
              <a:t>Graphic Design</a:t>
            </a:r>
            <a:r>
              <a:rPr lang="en-US" sz="2135">
                <a:solidFill>
                  <a:schemeClr val="dk1"/>
                </a:solidFill>
              </a:rPr>
              <a:t>  → Create a poster in a timed challenge.</a:t>
            </a:r>
            <a:endParaRPr sz="2135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7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135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987792" y="763776"/>
            <a:ext cx="905917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4. Market</a:t>
            </a:r>
            <a:endParaRPr/>
          </a:p>
        </p:txBody>
      </p:sp>
      <p:sp>
        <p:nvSpPr>
          <p:cNvPr id="147" name="Google Shape;147;p6"/>
          <p:cNvSpPr txBox="1"/>
          <p:nvPr/>
        </p:nvSpPr>
        <p:spPr>
          <a:xfrm>
            <a:off x="622934" y="2124925"/>
            <a:ext cx="11161396" cy="2333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</a:pPr>
            <a:r>
              <a:rPr lang="en-US" sz="27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Market Size:</a:t>
            </a:r>
            <a:endParaRPr sz="2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</a:pPr>
            <a:r>
              <a:t/>
            </a:r>
            <a:endParaRPr sz="2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</a:pPr>
            <a:r>
              <a:rPr lang="en-US" sz="27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EdTech and career guidance market is growing rapidly, with AI-powered career counseling expected to reach $2.5 billion by 2030.</a:t>
            </a:r>
            <a:endParaRPr sz="2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</a:pPr>
            <a:r>
              <a:rPr lang="en-US" sz="277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Our initial focus is India’s Tier-2 and Tier-3 cities, expanding later to other developing nations.</a:t>
            </a:r>
            <a:endParaRPr sz="2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70"/>
              <a:buFont typeface="Arial"/>
              <a:buNone/>
            </a:pPr>
            <a:r>
              <a:t/>
            </a:r>
            <a:endParaRPr sz="277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987792" y="763776"/>
            <a:ext cx="975640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5. Competitive Landscape- Learn about competition – direct and indirect competition</a:t>
            </a:r>
            <a:endParaRPr/>
          </a:p>
        </p:txBody>
      </p:sp>
      <p:sp>
        <p:nvSpPr>
          <p:cNvPr id="154" name="Google Shape;154;p7"/>
          <p:cNvSpPr txBox="1"/>
          <p:nvPr/>
        </p:nvSpPr>
        <p:spPr>
          <a:xfrm>
            <a:off x="579152" y="4788180"/>
            <a:ext cx="11161500" cy="3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63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700"/>
              <a:buChar char="•"/>
            </a:pPr>
            <a:r>
              <a:rPr b="1" lang="en-US" sz="2000">
                <a:solidFill>
                  <a:schemeClr val="dk1"/>
                </a:solidFill>
              </a:rPr>
              <a:t>Why CareerWay is Unique?</a:t>
            </a:r>
            <a:br>
              <a:rPr b="1"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chemeClr val="dk1"/>
                </a:solidFill>
              </a:rPr>
              <a:t> 🚀 Combines </a:t>
            </a:r>
            <a:r>
              <a:rPr b="1" lang="en-US" sz="2000">
                <a:solidFill>
                  <a:schemeClr val="dk1"/>
                </a:solidFill>
              </a:rPr>
              <a:t>AI, gamification, and interactive career exploration</a:t>
            </a:r>
            <a:r>
              <a:rPr lang="en-US" sz="2000">
                <a:solidFill>
                  <a:schemeClr val="dk1"/>
                </a:solidFill>
              </a:rPr>
              <a:t> to make career discovery engaging and immersive.</a:t>
            </a:r>
            <a:endParaRPr sz="2000">
              <a:solidFill>
                <a:schemeClr val="dk1"/>
              </a:solidFill>
            </a:endParaRPr>
          </a:p>
          <a:p>
            <a:pPr indent="-285750" lvl="0" marL="2286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Calibri"/>
              <a:buChar char="•"/>
            </a:pPr>
            <a:r>
              <a:t/>
            </a:r>
            <a:endParaRPr sz="3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7825" y="2346838"/>
            <a:ext cx="8896350" cy="178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61" name="Google Shape;161;p8"/>
          <p:cNvSpPr txBox="1"/>
          <p:nvPr/>
        </p:nvSpPr>
        <p:spPr>
          <a:xfrm>
            <a:off x="942072" y="763776"/>
            <a:ext cx="9756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6. Customer Discovery &amp; Validation</a:t>
            </a:r>
            <a:endParaRPr/>
          </a:p>
        </p:txBody>
      </p:sp>
      <p:sp>
        <p:nvSpPr>
          <p:cNvPr id="162" name="Google Shape;162;p8"/>
          <p:cNvSpPr txBox="1"/>
          <p:nvPr/>
        </p:nvSpPr>
        <p:spPr>
          <a:xfrm>
            <a:off x="590025" y="1560000"/>
            <a:ext cx="10599900" cy="5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Target Audience: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High school and college students</a:t>
            </a:r>
            <a:r>
              <a:rPr lang="en-US" sz="1600">
                <a:solidFill>
                  <a:schemeClr val="dk1"/>
                </a:solidFill>
              </a:rPr>
              <a:t> from </a:t>
            </a:r>
            <a:r>
              <a:rPr b="1" lang="en-US" sz="1600">
                <a:solidFill>
                  <a:schemeClr val="dk1"/>
                </a:solidFill>
              </a:rPr>
              <a:t>Tier-2 and Tier-3 cities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Parents and teachers</a:t>
            </a:r>
            <a:r>
              <a:rPr lang="en-US" sz="1600">
                <a:solidFill>
                  <a:schemeClr val="dk1"/>
                </a:solidFill>
              </a:rPr>
              <a:t> looking for career guidance tools.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Ed-tech companies</a:t>
            </a:r>
            <a:r>
              <a:rPr lang="en-US" sz="1600">
                <a:solidFill>
                  <a:schemeClr val="dk1"/>
                </a:solidFill>
              </a:rPr>
              <a:t> looking for partnerships.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Customer Insights from Surveys &amp; Interviews: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75%</a:t>
            </a:r>
            <a:r>
              <a:rPr lang="en-US" sz="1600">
                <a:solidFill>
                  <a:schemeClr val="dk1"/>
                </a:solidFill>
              </a:rPr>
              <a:t> of students felt </a:t>
            </a:r>
            <a:r>
              <a:rPr b="1" lang="en-US" sz="1600">
                <a:solidFill>
                  <a:schemeClr val="dk1"/>
                </a:solidFill>
              </a:rPr>
              <a:t>overwhelmed</a:t>
            </a:r>
            <a:r>
              <a:rPr lang="en-US" sz="1600">
                <a:solidFill>
                  <a:schemeClr val="dk1"/>
                </a:solidFill>
              </a:rPr>
              <a:t> by career choices and wanted </a:t>
            </a:r>
            <a:r>
              <a:rPr b="1" lang="en-US" sz="1600">
                <a:solidFill>
                  <a:schemeClr val="dk1"/>
                </a:solidFill>
              </a:rPr>
              <a:t>personalized guidance</a:t>
            </a:r>
            <a:r>
              <a:rPr lang="en-US" sz="1600">
                <a:solidFill>
                  <a:schemeClr val="dk1"/>
                </a:solidFill>
              </a:rPr>
              <a:t>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60%</a:t>
            </a:r>
            <a:r>
              <a:rPr lang="en-US" sz="1600">
                <a:solidFill>
                  <a:schemeClr val="dk1"/>
                </a:solidFill>
              </a:rPr>
              <a:t> of students were </a:t>
            </a:r>
            <a:r>
              <a:rPr b="1" lang="en-US" sz="1600">
                <a:solidFill>
                  <a:schemeClr val="dk1"/>
                </a:solidFill>
              </a:rPr>
              <a:t>unaware of scholarships and internships</a:t>
            </a:r>
            <a:r>
              <a:rPr lang="en-US" sz="1600">
                <a:solidFill>
                  <a:schemeClr val="dk1"/>
                </a:solidFill>
              </a:rPr>
              <a:t> in their field.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82%</a:t>
            </a:r>
            <a:r>
              <a:rPr lang="en-US" sz="1600">
                <a:solidFill>
                  <a:schemeClr val="dk1"/>
                </a:solidFill>
              </a:rPr>
              <a:t> said </a:t>
            </a:r>
            <a:r>
              <a:rPr b="1" lang="en-US" sz="1600">
                <a:solidFill>
                  <a:schemeClr val="dk1"/>
                </a:solidFill>
              </a:rPr>
              <a:t>traditional career counseling was too expensive or unavailable</a:t>
            </a:r>
            <a:r>
              <a:rPr lang="en-US" sz="1600">
                <a:solidFill>
                  <a:schemeClr val="dk1"/>
                </a:solidFill>
              </a:rPr>
              <a:t> in their area.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70%</a:t>
            </a:r>
            <a:r>
              <a:rPr lang="en-US" sz="1600">
                <a:solidFill>
                  <a:schemeClr val="dk1"/>
                </a:solidFill>
              </a:rPr>
              <a:t> of students preferred a </a:t>
            </a:r>
            <a:r>
              <a:rPr b="1" lang="en-US" sz="1600">
                <a:solidFill>
                  <a:schemeClr val="dk1"/>
                </a:solidFill>
              </a:rPr>
              <a:t>gamified career exploration</a:t>
            </a:r>
            <a:r>
              <a:rPr lang="en-US" sz="1600">
                <a:solidFill>
                  <a:schemeClr val="dk1"/>
                </a:solidFill>
              </a:rPr>
              <a:t> over reading career guides.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</a:rPr>
              <a:t>Pilot Testing Feedback: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Users loved the swipe-based career cards</a:t>
            </a:r>
            <a:r>
              <a:rPr lang="en-US" sz="1600">
                <a:solidFill>
                  <a:schemeClr val="dk1"/>
                </a:solidFill>
              </a:rPr>
              <a:t> for exploring options.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AI chatbot felt more engaging</a:t>
            </a:r>
            <a:r>
              <a:rPr lang="en-US" sz="1600">
                <a:solidFill>
                  <a:schemeClr val="dk1"/>
                </a:solidFill>
              </a:rPr>
              <a:t> than traditional forms or static career tests.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US" sz="1600">
                <a:solidFill>
                  <a:schemeClr val="dk1"/>
                </a:solidFill>
              </a:rPr>
              <a:t>Mini-games helped students experience careers firsthand</a:t>
            </a:r>
            <a:r>
              <a:rPr lang="en-US" sz="1600">
                <a:solidFill>
                  <a:schemeClr val="dk1"/>
                </a:solidFill>
              </a:rPr>
              <a:t>, making them more confident in their choices.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942072" y="763776"/>
            <a:ext cx="9756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7. Value Identification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753475" y="1854800"/>
            <a:ext cx="9756300" cy="199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Unique Value Proposition:</a:t>
            </a:r>
            <a:br>
              <a:rPr b="1"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🚀 </a:t>
            </a:r>
            <a:r>
              <a:rPr b="1" lang="en-US" sz="2100">
                <a:solidFill>
                  <a:schemeClr val="dk1"/>
                </a:solidFill>
              </a:rPr>
              <a:t>AI-powered career guidance</a:t>
            </a:r>
            <a:r>
              <a:rPr lang="en-US" sz="2100">
                <a:solidFill>
                  <a:schemeClr val="dk1"/>
                </a:solidFill>
              </a:rPr>
              <a:t> that’s engaging, interactive, and personalized.</a:t>
            </a:r>
            <a:br>
              <a:rPr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🎮 </a:t>
            </a:r>
            <a:r>
              <a:rPr b="1" lang="en-US" sz="2100">
                <a:solidFill>
                  <a:schemeClr val="dk1"/>
                </a:solidFill>
              </a:rPr>
              <a:t>Gamified career exploration</a:t>
            </a:r>
            <a:r>
              <a:rPr lang="en-US" sz="2100">
                <a:solidFill>
                  <a:schemeClr val="dk1"/>
                </a:solidFill>
              </a:rPr>
              <a:t> through career mini-games.</a:t>
            </a:r>
            <a:br>
              <a:rPr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🎓 </a:t>
            </a:r>
            <a:r>
              <a:rPr b="1" lang="en-US" sz="2100">
                <a:solidFill>
                  <a:schemeClr val="dk1"/>
                </a:solidFill>
              </a:rPr>
              <a:t>Real-time updates on scholarships, internships, and industry trends</a:t>
            </a:r>
            <a:r>
              <a:rPr lang="en-US" sz="2100">
                <a:solidFill>
                  <a:schemeClr val="dk1"/>
                </a:solidFill>
              </a:rPr>
              <a:t>.</a:t>
            </a:r>
            <a:br>
              <a:rPr lang="en-US" sz="2100">
                <a:solidFill>
                  <a:schemeClr val="dk1"/>
                </a:solidFill>
              </a:rPr>
            </a:br>
            <a:r>
              <a:rPr lang="en-US" sz="2100">
                <a:solidFill>
                  <a:schemeClr val="dk1"/>
                </a:solidFill>
              </a:rPr>
              <a:t> 💬 </a:t>
            </a:r>
            <a:r>
              <a:rPr b="1" lang="en-US" sz="2100">
                <a:solidFill>
                  <a:schemeClr val="dk1"/>
                </a:solidFill>
              </a:rPr>
              <a:t>AI chatbot mentor</a:t>
            </a:r>
            <a:r>
              <a:rPr lang="en-US" sz="2100">
                <a:solidFill>
                  <a:schemeClr val="dk1"/>
                </a:solidFill>
              </a:rPr>
              <a:t> that makes career discussions intuitive.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170" name="Google Shape;17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4700" y="4111625"/>
            <a:ext cx="8953500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76" name="Google Shape;176;p10"/>
          <p:cNvSpPr txBox="1"/>
          <p:nvPr/>
        </p:nvSpPr>
        <p:spPr>
          <a:xfrm>
            <a:off x="987792" y="763776"/>
            <a:ext cx="9756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8. Product positioning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1277100" y="1755450"/>
            <a:ext cx="10538700" cy="46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Market Category:</a:t>
            </a:r>
            <a:endParaRPr b="1" sz="2300">
              <a:solidFill>
                <a:schemeClr val="dk1"/>
              </a:solidFill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b="1" lang="en-US" sz="2300">
                <a:solidFill>
                  <a:schemeClr val="dk1"/>
                </a:solidFill>
              </a:rPr>
              <a:t>AI-powered Career Discovery &amp; Guidance</a:t>
            </a:r>
            <a:r>
              <a:rPr lang="en-US" sz="2300">
                <a:solidFill>
                  <a:schemeClr val="dk1"/>
                </a:solidFill>
              </a:rPr>
              <a:t> platform.</a:t>
            </a:r>
            <a:endParaRPr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Tagline: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🛤️ </a:t>
            </a:r>
            <a:r>
              <a:rPr i="1" lang="en-US" sz="2300">
                <a:solidFill>
                  <a:schemeClr val="dk1"/>
                </a:solidFill>
              </a:rPr>
              <a:t>The right way to the best career for you!</a:t>
            </a:r>
            <a:endParaRPr i="1" sz="2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300">
                <a:solidFill>
                  <a:schemeClr val="dk1"/>
                </a:solidFill>
              </a:rPr>
              <a:t>How CareerWay Stands Out:</a:t>
            </a:r>
            <a:br>
              <a:rPr b="1"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✅ </a:t>
            </a:r>
            <a:r>
              <a:rPr b="1" lang="en-US" sz="2300">
                <a:solidFill>
                  <a:schemeClr val="dk1"/>
                </a:solidFill>
              </a:rPr>
              <a:t>Fun &amp; interactive career discovery</a:t>
            </a:r>
            <a:r>
              <a:rPr lang="en-US" sz="2300">
                <a:solidFill>
                  <a:schemeClr val="dk1"/>
                </a:solidFill>
              </a:rPr>
              <a:t> (not just passive content).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✅ </a:t>
            </a:r>
            <a:r>
              <a:rPr b="1" lang="en-US" sz="2300">
                <a:solidFill>
                  <a:schemeClr val="dk1"/>
                </a:solidFill>
              </a:rPr>
              <a:t>Personalized AI-driven recommendations</a:t>
            </a:r>
            <a:r>
              <a:rPr lang="en-US" sz="2300">
                <a:solidFill>
                  <a:schemeClr val="dk1"/>
                </a:solidFill>
              </a:rPr>
              <a:t> (not one-size-fits-all career lists).</a:t>
            </a:r>
            <a:br>
              <a:rPr lang="en-US" sz="2300">
                <a:solidFill>
                  <a:schemeClr val="dk1"/>
                </a:solidFill>
              </a:rPr>
            </a:br>
            <a:r>
              <a:rPr lang="en-US" sz="2300">
                <a:solidFill>
                  <a:schemeClr val="dk1"/>
                </a:solidFill>
              </a:rPr>
              <a:t> ✅ </a:t>
            </a:r>
            <a:r>
              <a:rPr b="1" lang="en-US" sz="2300">
                <a:solidFill>
                  <a:schemeClr val="dk1"/>
                </a:solidFill>
              </a:rPr>
              <a:t>Affordable &amp; scalable career counseling</a:t>
            </a:r>
            <a:r>
              <a:rPr lang="en-US" sz="2300">
                <a:solidFill>
                  <a:schemeClr val="dk1"/>
                </a:solidFill>
              </a:rPr>
              <a:t> (compared to costly in-person advisors).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83" name="Google Shape;183;p11"/>
          <p:cNvSpPr txBox="1"/>
          <p:nvPr/>
        </p:nvSpPr>
        <p:spPr>
          <a:xfrm>
            <a:off x="1056997" y="409526"/>
            <a:ext cx="97563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9. Desirability , Feasibility &amp; Viability</a:t>
            </a:r>
            <a:endParaRPr/>
          </a:p>
        </p:txBody>
      </p:sp>
      <p:sp>
        <p:nvSpPr>
          <p:cNvPr id="184" name="Google Shape;184;p11"/>
          <p:cNvSpPr txBox="1"/>
          <p:nvPr/>
        </p:nvSpPr>
        <p:spPr>
          <a:xfrm>
            <a:off x="574700" y="1117400"/>
            <a:ext cx="11253900" cy="5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💡 </a:t>
            </a:r>
            <a:r>
              <a:rPr b="1" lang="en-US" sz="2000">
                <a:solidFill>
                  <a:schemeClr val="dk1"/>
                </a:solidFill>
              </a:rPr>
              <a:t>Desirability (Do students want this?)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Strong </a:t>
            </a:r>
            <a:r>
              <a:rPr b="1" lang="en-US" sz="2000">
                <a:solidFill>
                  <a:schemeClr val="dk1"/>
                </a:solidFill>
              </a:rPr>
              <a:t>survey validation</a:t>
            </a:r>
            <a:r>
              <a:rPr lang="en-US" sz="2000">
                <a:solidFill>
                  <a:schemeClr val="dk1"/>
                </a:solidFill>
              </a:rPr>
              <a:t> shows students want </a:t>
            </a:r>
            <a:r>
              <a:rPr b="1" lang="en-US" sz="2000">
                <a:solidFill>
                  <a:schemeClr val="dk1"/>
                </a:solidFill>
              </a:rPr>
              <a:t>a more interactive, AI-powered way</a:t>
            </a:r>
            <a:r>
              <a:rPr lang="en-US" sz="2000">
                <a:solidFill>
                  <a:schemeClr val="dk1"/>
                </a:solidFill>
              </a:rPr>
              <a:t> to explore careers.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Early testers found the </a:t>
            </a:r>
            <a:r>
              <a:rPr b="1" lang="en-US" sz="2000">
                <a:solidFill>
                  <a:schemeClr val="dk1"/>
                </a:solidFill>
              </a:rPr>
              <a:t>career cards, chat-based guidance, and games engaging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🛠 </a:t>
            </a:r>
            <a:r>
              <a:rPr b="1" lang="en-US" sz="2000">
                <a:solidFill>
                  <a:schemeClr val="dk1"/>
                </a:solidFill>
              </a:rPr>
              <a:t>Feasibility (Can we build it?)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Tech stack is clear</a:t>
            </a:r>
            <a:r>
              <a:rPr lang="en-US" sz="2000">
                <a:solidFill>
                  <a:schemeClr val="dk1"/>
                </a:solidFill>
              </a:rPr>
              <a:t> → React.js, Node.js, OpenAI API, Firebase, MongoDB.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AI chatbot and recommendation system are </a:t>
            </a:r>
            <a:r>
              <a:rPr b="1" lang="en-US" sz="2000">
                <a:solidFill>
                  <a:schemeClr val="dk1"/>
                </a:solidFill>
              </a:rPr>
              <a:t>implementable using existing ML models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2D game development</a:t>
            </a:r>
            <a:r>
              <a:rPr lang="en-US" sz="2000">
                <a:solidFill>
                  <a:schemeClr val="dk1"/>
                </a:solidFill>
              </a:rPr>
              <a:t> is possible using </a:t>
            </a:r>
            <a:r>
              <a:rPr b="1" lang="en-US" sz="2000">
                <a:solidFill>
                  <a:schemeClr val="dk1"/>
                </a:solidFill>
              </a:rPr>
              <a:t>Unity, Phaser.js, or Godot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💰 </a:t>
            </a:r>
            <a:r>
              <a:rPr b="1" lang="en-US" sz="2000">
                <a:solidFill>
                  <a:schemeClr val="dk1"/>
                </a:solidFill>
              </a:rPr>
              <a:t>Viability (Can it sustain as a business?)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Freemium model</a:t>
            </a:r>
            <a:r>
              <a:rPr lang="en-US" sz="2000">
                <a:solidFill>
                  <a:schemeClr val="dk1"/>
                </a:solidFill>
              </a:rPr>
              <a:t> ensures mass adoption with a clear </a:t>
            </a:r>
            <a:r>
              <a:rPr b="1" lang="en-US" sz="2000">
                <a:solidFill>
                  <a:schemeClr val="dk1"/>
                </a:solidFill>
              </a:rPr>
              <a:t>subscription upgrade path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Ed-tech partnerships</a:t>
            </a:r>
            <a:r>
              <a:rPr lang="en-US" sz="2000">
                <a:solidFill>
                  <a:schemeClr val="dk1"/>
                </a:solidFill>
              </a:rPr>
              <a:t> provide </a:t>
            </a:r>
            <a:r>
              <a:rPr b="1" lang="en-US" sz="2000">
                <a:solidFill>
                  <a:schemeClr val="dk1"/>
                </a:solidFill>
              </a:rPr>
              <a:t>monetization through integrations &amp; course promotions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Ad-based revenue</a:t>
            </a:r>
            <a:r>
              <a:rPr lang="en-US" sz="2000">
                <a:solidFill>
                  <a:schemeClr val="dk1"/>
                </a:solidFill>
              </a:rPr>
              <a:t> from universities and online course platforms.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987792" y="763776"/>
            <a:ext cx="9756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10. BMC – One pager</a:t>
            </a:r>
            <a:endParaRPr/>
          </a:p>
        </p:txBody>
      </p:sp>
      <p:pic>
        <p:nvPicPr>
          <p:cNvPr id="191" name="Google Shape;19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4062"/>
            <a:ext cx="8505217" cy="490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197" name="Google Shape;197;p13"/>
          <p:cNvSpPr txBox="1"/>
          <p:nvPr/>
        </p:nvSpPr>
        <p:spPr>
          <a:xfrm>
            <a:off x="987792" y="763776"/>
            <a:ext cx="97564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11. Financials projected</a:t>
            </a:r>
            <a:endParaRPr/>
          </a:p>
        </p:txBody>
      </p:sp>
      <p:pic>
        <p:nvPicPr>
          <p:cNvPr id="198" name="Google Shape;19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24062"/>
            <a:ext cx="7595942" cy="490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"/>
          <p:cNvSpPr txBox="1"/>
          <p:nvPr>
            <p:ph idx="11" type="ftr"/>
          </p:nvPr>
        </p:nvSpPr>
        <p:spPr>
          <a:xfrm>
            <a:off x="4038600" y="6679150"/>
            <a:ext cx="4114800" cy="187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PESU Proprietary - i Powered e 2025</a:t>
            </a:r>
            <a:endParaRPr/>
          </a:p>
        </p:txBody>
      </p:sp>
      <p:sp>
        <p:nvSpPr>
          <p:cNvPr id="204" name="Google Shape;204;p14"/>
          <p:cNvSpPr txBox="1"/>
          <p:nvPr/>
        </p:nvSpPr>
        <p:spPr>
          <a:xfrm>
            <a:off x="1102717" y="329551"/>
            <a:ext cx="90021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1F3864"/>
                </a:solidFill>
                <a:latin typeface="Calibri"/>
                <a:ea typeface="Calibri"/>
                <a:cs typeface="Calibri"/>
                <a:sym typeface="Calibri"/>
              </a:rPr>
              <a:t>12. What support do you need to get ahead / forward from here ?</a:t>
            </a:r>
            <a:endParaRPr/>
          </a:p>
        </p:txBody>
      </p:sp>
      <p:sp>
        <p:nvSpPr>
          <p:cNvPr id="205" name="Google Shape;205;p14"/>
          <p:cNvSpPr txBox="1"/>
          <p:nvPr/>
        </p:nvSpPr>
        <p:spPr>
          <a:xfrm>
            <a:off x="472525" y="1596400"/>
            <a:ext cx="11598600" cy="51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🚀 </a:t>
            </a:r>
            <a:r>
              <a:rPr b="1" lang="en-US" sz="1700">
                <a:solidFill>
                  <a:schemeClr val="dk1"/>
                </a:solidFill>
              </a:rPr>
              <a:t>Funding &amp; Investment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Initial funding</a:t>
            </a:r>
            <a:r>
              <a:rPr lang="en-US" sz="1700">
                <a:solidFill>
                  <a:schemeClr val="dk1"/>
                </a:solidFill>
              </a:rPr>
              <a:t> to scale AI chatbot, </a:t>
            </a:r>
            <a:r>
              <a:rPr b="1" lang="en-US" sz="1700">
                <a:solidFill>
                  <a:schemeClr val="dk1"/>
                </a:solidFill>
              </a:rPr>
              <a:t>develop gamified experiences</a:t>
            </a:r>
            <a:r>
              <a:rPr lang="en-US" sz="1700">
                <a:solidFill>
                  <a:schemeClr val="dk1"/>
                </a:solidFill>
              </a:rPr>
              <a:t>, and </a:t>
            </a:r>
            <a:r>
              <a:rPr b="1" lang="en-US" sz="1700">
                <a:solidFill>
                  <a:schemeClr val="dk1"/>
                </a:solidFill>
              </a:rPr>
              <a:t>expand scholarship tracking features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🤝 </a:t>
            </a:r>
            <a:r>
              <a:rPr b="1" lang="en-US" sz="1700">
                <a:solidFill>
                  <a:schemeClr val="dk1"/>
                </a:solidFill>
              </a:rPr>
              <a:t>Partnerships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Collaborations with ed-tech platforms (Udemy, Coursera, UpGrad)</a:t>
            </a:r>
            <a:r>
              <a:rPr lang="en-US" sz="1700">
                <a:solidFill>
                  <a:schemeClr val="dk1"/>
                </a:solidFill>
              </a:rPr>
              <a:t> for course recommendations.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Tie-ups with universities and career coaches</a:t>
            </a:r>
            <a:r>
              <a:rPr lang="en-US" sz="1700">
                <a:solidFill>
                  <a:schemeClr val="dk1"/>
                </a:solidFill>
              </a:rPr>
              <a:t> for mentorship integration.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Job platforms (Internshala, LinkedIn, Indeed)</a:t>
            </a:r>
            <a:r>
              <a:rPr lang="en-US" sz="1700">
                <a:solidFill>
                  <a:schemeClr val="dk1"/>
                </a:solidFill>
              </a:rPr>
              <a:t> for real-time internship listings.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💡 </a:t>
            </a:r>
            <a:r>
              <a:rPr b="1" lang="en-US" sz="1700">
                <a:solidFill>
                  <a:schemeClr val="dk1"/>
                </a:solidFill>
              </a:rPr>
              <a:t>Technical Support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AI optimization for better career recommendations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Game development expertise</a:t>
            </a:r>
            <a:r>
              <a:rPr lang="en-US" sz="1700">
                <a:solidFill>
                  <a:schemeClr val="dk1"/>
                </a:solidFill>
              </a:rPr>
              <a:t> to make career exploration </a:t>
            </a:r>
            <a:r>
              <a:rPr b="1" lang="en-US" sz="1700">
                <a:solidFill>
                  <a:schemeClr val="dk1"/>
                </a:solidFill>
              </a:rPr>
              <a:t>fun and interactive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chemeClr val="dk1"/>
                </a:solidFill>
              </a:rPr>
              <a:t>📢 </a:t>
            </a:r>
            <a:r>
              <a:rPr b="1" lang="en-US" sz="1700">
                <a:solidFill>
                  <a:schemeClr val="dk1"/>
                </a:solidFill>
              </a:rPr>
              <a:t>Marketing &amp; Outreach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Social media awareness campaigns</a:t>
            </a:r>
            <a:r>
              <a:rPr lang="en-US" sz="1700">
                <a:solidFill>
                  <a:schemeClr val="dk1"/>
                </a:solidFill>
              </a:rPr>
              <a:t> to attract students.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Webinars and partnerships with schools/colleges</a:t>
            </a:r>
            <a:r>
              <a:rPr lang="en-US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en-US" sz="1700">
                <a:solidFill>
                  <a:schemeClr val="dk1"/>
                </a:solidFill>
              </a:rPr>
              <a:t>Influencer marketing (YouTube, LinkedIn, career counselors)</a:t>
            </a:r>
            <a:r>
              <a:rPr lang="en-US" sz="1700">
                <a:solidFill>
                  <a:schemeClr val="dk1"/>
                </a:solidFill>
              </a:rPr>
              <a:t> to spread awareness.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2023-07-20T08:43:24Z</dcterms:created>
  <dc:creator>Lakshmeesha Shastry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0x010100C333BB2FB373FB49BA541A288E3B5D4B</vt:lpwstr>
  </property>
</Properties>
</file>